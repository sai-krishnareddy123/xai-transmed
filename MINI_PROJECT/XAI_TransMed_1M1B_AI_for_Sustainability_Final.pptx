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109728" cy="5212080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0"/>
            <a:ext cx="102412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XAI-TransMed</a:t>
            </a:r>
          </a:p>
          <a:p>
            <a:r>
              <a:rPr sz="2700">
                <a:solidFill>
                  <a:srgbClr val="FFFFFF"/>
                </a:solidFill>
              </a:rPr>
              <a:t>Explainable AI for Alzheimer’s Disease Detection
and Progression Prediction</a:t>
            </a:r>
          </a:p>
          <a:p>
            <a:r>
              <a:rPr sz="1800">
                <a:solidFill>
                  <a:srgbClr val="BEDCDC"/>
                </a:solidFill>
              </a:rPr>
              <a:t>1M1B AI for Sustainability Virtual Internship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3886200"/>
            <a:ext cx="2971800" cy="566928"/>
          </a:xfrm>
          <a:prstGeom prst="round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SDG 3 • Good Health &amp; Well-being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4800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Voladri Sai Krishnareddy
CSE • Vardhaman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0515600" cy="1874519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97840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82A43"/>
                </a:solidFill>
              </a:rPr>
              <a:t>“How might we use Explainable AI to support the early detection
and progression prediction of Alzheimer’s disease so that healthcare
professionals can make more informed and interpretable decisions?”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31546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913631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370831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Complex MRI and clinical information must be interpreted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749039"/>
            <a:ext cx="31546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913631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AI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70831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Models should capture global brain patterns and provide explanations.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749039"/>
            <a:ext cx="315468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913631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370831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Provide research-stage decision support, not autonomous diagnosis.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SDG 3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3291840" cy="356616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3619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SDG 3 — Good Health &amp; Well-being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The project explores responsible AI for healthcare decision support, with a focus on Alzheimer’s disease stage classification and progression-related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291840" cy="356616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53619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How it contributes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93392"/>
            <a:ext cx="2834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• Supports analysis of MRI images
• Combines clinical information
• Provides progression-related predictions
• Adds visual explanations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291840" cy="356616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36192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Sustainability angle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93392"/>
            <a:ext cx="28346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Better-informed health decisions can support well-being and healthcare resource planning. The project remains a prototype and requires further validation.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Who Is Affected?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People undergoing dementia assessment</a:t>
            </a:r>
          </a:p>
          <a:p>
            <a:pPr>
              <a:spcAft>
                <a:spcPts val="8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Healthcare professionals involved in assessment and monitoring</a:t>
            </a:r>
          </a:p>
          <a:p>
            <a:pPr>
              <a:spcAft>
                <a:spcPts val="8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Patients and caregivers who depend on informed care decisions</a:t>
            </a:r>
          </a:p>
          <a:p>
            <a:pPr>
              <a:spcAft>
                <a:spcPts val="8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• Researchers developing interpretable medical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417320"/>
            <a:ext cx="4297680" cy="118872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8191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Existing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391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Existing approaches may focus on local image features and can be difficult to interpret.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2834640"/>
            <a:ext cx="4297680" cy="118872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99923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Data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45643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MRI information and clinical/demographic data provide different but complementary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29400" y="4251960"/>
            <a:ext cx="4297680" cy="118872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441655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Trust challenge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8737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Healthcare applications need transparency and human oversight.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Why AI Is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233172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08481"/>
                </a:solidFill>
              </a:rPr>
              <a:t>MRI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Medical image input</a:t>
            </a:r>
          </a:p>
        </p:txBody>
      </p:sp>
      <p:sp>
        <p:nvSpPr>
          <p:cNvPr id="7" name="Chevron 6"/>
          <p:cNvSpPr/>
          <p:nvPr/>
        </p:nvSpPr>
        <p:spPr>
          <a:xfrm>
            <a:off x="3136392" y="1965960"/>
            <a:ext cx="384048" cy="50292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33172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08481"/>
                </a:solidFill>
              </a:rPr>
              <a:t>ViT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Global feature extraction</a:t>
            </a:r>
          </a:p>
        </p:txBody>
      </p:sp>
      <p:sp>
        <p:nvSpPr>
          <p:cNvPr id="9" name="Chevron 8"/>
          <p:cNvSpPr/>
          <p:nvPr/>
        </p:nvSpPr>
        <p:spPr>
          <a:xfrm>
            <a:off x="5925312" y="1965960"/>
            <a:ext cx="384048" cy="50292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79" y="1554480"/>
            <a:ext cx="233172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08481"/>
                </a:solidFill>
              </a:rPr>
              <a:t>XGBoost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Progression-related prediction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8714232" y="1965960"/>
            <a:ext cx="384048" cy="50292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3999" y="1554480"/>
            <a:ext cx="2331720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208481"/>
                </a:solidFill>
              </a:rPr>
              <a:t>XAI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Attention maps / Grad-CAM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Vision Transformer uses self-attention to model relationships across image patches.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Multimodal inputs combine MRI information with clinical/demographic features.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• Explainability techniques produce visual evidence associated with the model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Proposed AI Solution &amp;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664208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8481"/>
                </a:solidFill>
              </a:rPr>
              <a:t>1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MRI + Clinical Data</a:t>
            </a:r>
          </a:p>
        </p:txBody>
      </p:sp>
      <p:sp>
        <p:nvSpPr>
          <p:cNvPr id="7" name="Chevron 6"/>
          <p:cNvSpPr/>
          <p:nvPr/>
        </p:nvSpPr>
        <p:spPr>
          <a:xfrm>
            <a:off x="2185416" y="2267712"/>
            <a:ext cx="246888" cy="41148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441448" y="1828800"/>
            <a:ext cx="1664208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8481"/>
                </a:solidFill>
              </a:rPr>
              <a:t>2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Preprocessing</a:t>
            </a:r>
          </a:p>
        </p:txBody>
      </p:sp>
      <p:sp>
        <p:nvSpPr>
          <p:cNvPr id="9" name="Chevron 8"/>
          <p:cNvSpPr/>
          <p:nvPr/>
        </p:nvSpPr>
        <p:spPr>
          <a:xfrm>
            <a:off x="4123944" y="2267712"/>
            <a:ext cx="246888" cy="41148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828800"/>
            <a:ext cx="1664208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8481"/>
                </a:solidFill>
              </a:rPr>
              <a:t>3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Vision Transformer</a:t>
            </a:r>
          </a:p>
        </p:txBody>
      </p:sp>
      <p:sp>
        <p:nvSpPr>
          <p:cNvPr id="11" name="Chevron 10"/>
          <p:cNvSpPr/>
          <p:nvPr/>
        </p:nvSpPr>
        <p:spPr>
          <a:xfrm>
            <a:off x="6062472" y="2267712"/>
            <a:ext cx="246888" cy="41148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18504" y="1828800"/>
            <a:ext cx="1664208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8481"/>
                </a:solidFill>
              </a:rPr>
              <a:t>4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Stage Classification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8001000" y="2267712"/>
            <a:ext cx="246888" cy="41148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7032" y="1828800"/>
            <a:ext cx="1664208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8481"/>
                </a:solidFill>
              </a:rPr>
              <a:t>5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Progression Model</a:t>
            </a:r>
          </a:p>
        </p:txBody>
      </p:sp>
      <p:sp>
        <p:nvSpPr>
          <p:cNvPr id="15" name="Chevron 14"/>
          <p:cNvSpPr/>
          <p:nvPr/>
        </p:nvSpPr>
        <p:spPr>
          <a:xfrm>
            <a:off x="9939528" y="2267712"/>
            <a:ext cx="246888" cy="411480"/>
          </a:xfrm>
          <a:prstGeom prst="chevron">
            <a:avLst/>
          </a:prstGeom>
          <a:solidFill>
            <a:srgbClr val="E89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95560" y="1828800"/>
            <a:ext cx="1664208" cy="1417320"/>
          </a:xfrm>
          <a:prstGeom prst="roundRect">
            <a:avLst/>
          </a:prstGeom>
          <a:solidFill>
            <a:srgbClr val="F4F8F9"/>
          </a:solidFill>
          <a:ln>
            <a:solidFill>
              <a:srgbClr val="2084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208481"/>
                </a:solidFill>
              </a:rPr>
              <a:t>6</a:t>
            </a:r>
          </a:p>
          <a:p>
            <a:pPr algn="ctr"/>
            <a:r>
              <a:rPr sz="1300">
                <a:solidFill>
                  <a:srgbClr val="232D37"/>
                </a:solidFill>
              </a:rPr>
              <a:t>XAI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77639"/>
            <a:ext cx="102412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82A43"/>
                </a:solidFill>
              </a:rPr>
              <a:t>Outputs: dementia-stage prediction • class probabilities • progression-related prediction • attention heatmap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Prototype Demo — Stage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07</a:t>
            </a:r>
          </a:p>
        </p:txBody>
      </p:sp>
      <p:pic>
        <p:nvPicPr>
          <p:cNvPr id="6" name="Picture 5" descr="WhatsApp Image 2026-06-21 at 9.31.11 PM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57812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B6873"/>
                </a:solidFill>
              </a:rPr>
              <a:t>Prototype output: MRI + attention heatmap + predicted stage + class probabilities + region attention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Prototype Demo — Explainability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08</a:t>
            </a:r>
          </a:p>
        </p:txBody>
      </p:sp>
      <p:pic>
        <p:nvPicPr>
          <p:cNvPr id="6" name="Picture 5" descr="WhatsApp Image 2026-06-21 at 9.31.12 PM (1)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57470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5B6873"/>
                </a:solidFill>
              </a:rPr>
              <a:t>Attention heatmap provides a visual explanation alongside the model’s predicted dementia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How the AI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Vision Transformer (ViT)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Extracts MRI features using patch embeddings and self-attention to capture global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47472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Progression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194767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XGBoost is used for MMSE/progression-related prediction; the research design also describes Cox proportional hazards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325880"/>
            <a:ext cx="347472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8744" y="149047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Explainable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1947672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Attention Rollout / Grad-CAM generate heatmaps that visualize regions associated with model attention.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749039"/>
            <a:ext cx="3474720" cy="146304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91363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Four output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370831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Non-Demented • Very Mild • Mild • Moderate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749039"/>
            <a:ext cx="3474720" cy="146304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913631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370831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Python • PyTorch/TensorFlow • XGBoost • OpenCV/NumPy •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Responsible AI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0604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Use visual explanations so users can inspect model attention rather than receiving only a black-box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25880"/>
            <a:ext cx="260604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947672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Evaluate performance across demographic groups and investigate potential differences.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260604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47672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MRI scans and clinical information are sensitive; protect data and limit use to appropriate purposes.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325880"/>
            <a:ext cx="2606040" cy="182880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490472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Human Oversight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947672"/>
            <a:ext cx="2148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Predictions should support qualified professionals and must not be treated as an autonomous diagnosis.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241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82A43"/>
                </a:solidFill>
              </a:rPr>
              <a:t>Key principle: explainable, privacy-aware, fairness-tested AI with clear limitations.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82A43"/>
                </a:solidFill>
                <a:latin typeface="Aptos Display"/>
              </a:rPr>
              <a:t>Expected Impact, 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51560" cy="54864"/>
          </a:xfrm>
          <a:prstGeom prst="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208481"/>
                </a:solidFill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356616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Expected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• Supports analysis of complex MRI information
• Provides stage classification
• Provides progression-related information
• Adds visual explanations
• Can support informed healthcare decisions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356616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904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E89A42"/>
                </a:solidFill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47672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• Research/prototype stage
• Predictions can be wrong
• Performance depends on data quality
• Further external validation is needed
• Not a replacement for medical judgment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3566160"/>
          </a:xfrm>
          <a:prstGeom prst="roundRect">
            <a:avLst/>
          </a:prstGeom>
          <a:solidFill>
            <a:srgbClr val="F4F8F9"/>
          </a:solidFill>
          <a:ln>
            <a:solidFill>
              <a:srgbClr val="DC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9047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08481"/>
                </a:solidFill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47672"/>
            <a:ext cx="29718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32D37"/>
                </a:solidFill>
              </a:rPr>
              <a:t>• Larger and more diverse datasets
• Additional clinical/imaging modalities
• Better generalization
• Fairness evaluation
• Real-world clinical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873"/>
                </a:solidFill>
              </a:rPr>
              <a:t>XAI-TransMed • AI for Sustainability • SDG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965960"/>
            <a:ext cx="96926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FFFFFF"/>
                </a:solidFill>
              </a:rPr>
              <a:t>XAI-TransMed combines Vision Transformers, clinical data,
progression modelling and Explainable AI to explore
responsible AI-based decision support for Alzheimer’s disease.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4434840"/>
            <a:ext cx="3886200" cy="658368"/>
          </a:xfrm>
          <a:prstGeom prst="roundRect">
            <a:avLst/>
          </a:prstGeom>
          <a:solidFill>
            <a:srgbClr val="208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SDG 3 • Good Health &amp; Well-being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