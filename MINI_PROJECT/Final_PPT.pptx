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259" r:id="rId3"/>
    <p:sldId id="327" r:id="rId4"/>
    <p:sldId id="333" r:id="rId5"/>
    <p:sldId id="350" r:id="rId6"/>
    <p:sldId id="351" r:id="rId7"/>
    <p:sldId id="328" r:id="rId8"/>
    <p:sldId id="329" r:id="rId9"/>
    <p:sldId id="335" r:id="rId10"/>
    <p:sldId id="330" r:id="rId11"/>
    <p:sldId id="345" r:id="rId12"/>
    <p:sldId id="346" r:id="rId13"/>
    <p:sldId id="352" r:id="rId14"/>
    <p:sldId id="353" r:id="rId15"/>
    <p:sldId id="349" r:id="rId16"/>
    <p:sldId id="326"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p:scale>
          <a:sx n="75" d="100"/>
          <a:sy n="75" d="100"/>
        </p:scale>
        <p:origin x="1690"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4/1/2026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4/1/2026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4/1/2026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4/1/2026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4/1/2026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4/1/2026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4/1/2026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4/1/2026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4/1/2026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4/1/2026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4/1/2026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4/1/2026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4/1/2026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4/1/2026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cs typeface="Calibri"/>
              </a:rPr>
              <a:t>Dr. Gagandeep Arora</a:t>
            </a:r>
          </a:p>
          <a:p>
            <a:pPr algn="ctr" fontAlgn="auto">
              <a:spcBef>
                <a:spcPct val="20000"/>
              </a:spcBef>
              <a:spcAft>
                <a:spcPts val="0"/>
              </a:spcAft>
              <a:defRPr/>
            </a:pPr>
            <a:r>
              <a:rPr lang="en-US" sz="2200" b="1" dirty="0">
                <a:solidFill>
                  <a:srgbClr val="002060"/>
                </a:solidFill>
              </a:rPr>
              <a:t>Associate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23MPCS-G02</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70000" lnSpcReduction="20000"/>
          </a:bodyPr>
          <a:lstStyle/>
          <a:p>
            <a:pPr algn="ctr" fontAlgn="auto">
              <a:spcAft>
                <a:spcPts val="0"/>
              </a:spcAft>
              <a:defRPr/>
            </a:pPr>
            <a:r>
              <a:rPr lang="en-US" sz="2800" b="1" dirty="0">
                <a:solidFill>
                  <a:schemeClr val="tx1"/>
                </a:solidFill>
                <a:latin typeface="+mj-lt"/>
                <a:ea typeface="+mj-ea"/>
                <a:cs typeface="+mj-cs"/>
              </a:rPr>
              <a:t>Title: </a:t>
            </a:r>
            <a:r>
              <a:rPr lang="en-US" sz="2800" b="1" dirty="0">
                <a:solidFill>
                  <a:schemeClr val="tx1"/>
                </a:solidFill>
              </a:rPr>
              <a:t>XAI-TransMed: Explainable AI Transformer-Based Medical Model for Alzheimer’s Disease Detection and Progression Rate</a:t>
            </a:r>
            <a:endParaRPr lang="en-US" sz="2800" b="1" dirty="0">
              <a:solidFill>
                <a:schemeClr val="tx1"/>
              </a:solidFill>
              <a:latin typeface="+mj-lt"/>
              <a:ea typeface="+mj-ea"/>
              <a:cs typeface="+mj-cs"/>
            </a:endParaRP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1894429676"/>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24885A0544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 D. Archana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 A. Shashank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23881A05EM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V. Sai Krishnareddy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fontAlgn="auto">
              <a:spcAft>
                <a:spcPts val="0"/>
              </a:spcAft>
              <a:defRPr/>
            </a:pPr>
            <a:endParaRPr lang="en-US" sz="2800" dirty="0"/>
          </a:p>
          <a:p>
            <a:r>
              <a:rPr lang="en-US" sz="1800" dirty="0"/>
              <a:t>Alzheimer’s disease is a progressive neurological disorder that affects memory, thinking ability, and daily functioning. Early detection of this disease is very important to improve patient care and treatment outcomes.</a:t>
            </a:r>
          </a:p>
          <a:p>
            <a:r>
              <a:rPr lang="en-US" sz="1800" dirty="0"/>
              <a:t>With the advancement of Artificial Intelligence, medical imaging techniques like MRI scans can be analyzed more effectively. However, traditional deep learning models such as CNNs mainly focus on local features and lack interpretability, making them less reliable for clinical use.</a:t>
            </a:r>
          </a:p>
          <a:p>
            <a:r>
              <a:rPr lang="en-US" sz="1800" dirty="0"/>
              <a:t>To address these challenges, our project proposes </a:t>
            </a:r>
            <a:r>
              <a:rPr lang="en-US" sz="1800" b="1" dirty="0"/>
              <a:t>XAI-TransMed</a:t>
            </a:r>
            <a:r>
              <a:rPr lang="en-US" sz="1800" dirty="0"/>
              <a:t>, a transformer-based model that uses Vision Transformers (</a:t>
            </a:r>
            <a:r>
              <a:rPr lang="en-US" sz="1800" dirty="0" err="1"/>
              <a:t>ViT</a:t>
            </a:r>
            <a:r>
              <a:rPr lang="en-US" sz="1800" dirty="0"/>
              <a:t>) to capture global relationships in brain images. The system also integrates clinical data such as age and cognitive scores to improve prediction accuracy.</a:t>
            </a:r>
          </a:p>
          <a:p>
            <a:r>
              <a:rPr lang="en-US" sz="1800" dirty="0"/>
              <a:t>In addition, Explainable AI techniques are used to provide visual explanations, making the model’s decisions more transparent and trustworthy. This system can classify different stages of Alzheimer’s disease and predict its progression, supporting better clinical decision-making.</a:t>
            </a:r>
          </a:p>
          <a:p>
            <a:pPr fontAlgn="auto">
              <a:spcAft>
                <a:spcPts val="0"/>
              </a:spcAft>
              <a:buNone/>
              <a:defRPr/>
            </a:pPr>
            <a:endParaRPr lang="en-US" sz="2800" dirty="0">
              <a:cs typeface="Calibri"/>
            </a:endParaRP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n-US" sz="1800" b="1" dirty="0">
                <a:solidFill>
                  <a:srgbClr val="C00000"/>
                </a:solidFill>
              </a:rPr>
              <a:t>Existing System:</a:t>
            </a:r>
          </a:p>
          <a:p>
            <a:r>
              <a:rPr lang="en-US" sz="1800" dirty="0"/>
              <a:t>Uses traditional Machine Learning and CNN-based models</a:t>
            </a:r>
          </a:p>
          <a:p>
            <a:r>
              <a:rPr lang="en-US" sz="1800" dirty="0"/>
              <a:t>Focuses mainly on local features in MRI images</a:t>
            </a:r>
          </a:p>
          <a:p>
            <a:r>
              <a:rPr lang="en-US" sz="1800" dirty="0"/>
              <a:t>Cannot capture global relationships between brain regions</a:t>
            </a:r>
          </a:p>
          <a:p>
            <a:r>
              <a:rPr lang="en-US" sz="1800" dirty="0"/>
              <a:t>Acts as a “black-box” (no clear explanation of predictions)</a:t>
            </a:r>
          </a:p>
          <a:p>
            <a:r>
              <a:rPr lang="en-US" sz="1800" dirty="0"/>
              <a:t>Limited use of clinical and demographic data</a:t>
            </a:r>
          </a:p>
          <a:p>
            <a:r>
              <a:rPr lang="en-US" sz="1800" dirty="0"/>
              <a:t>Lower accuracy in disease progression prediction</a:t>
            </a:r>
          </a:p>
          <a:p>
            <a:r>
              <a:rPr lang="en-US" sz="1800" dirty="0"/>
              <a:t>Not suitable for real-time clinical decision support</a:t>
            </a:r>
          </a:p>
          <a:p>
            <a:r>
              <a:rPr lang="en-US" sz="1800" b="1" dirty="0">
                <a:solidFill>
                  <a:srgbClr val="C00000"/>
                </a:solidFill>
              </a:rPr>
              <a:t>Proposed System (XAI-TransMed):</a:t>
            </a:r>
          </a:p>
          <a:p>
            <a:r>
              <a:rPr lang="en-US" sz="1800" dirty="0"/>
              <a:t>Uses Vision Transformer (</a:t>
            </a:r>
            <a:r>
              <a:rPr lang="en-US" sz="1800" dirty="0" err="1"/>
              <a:t>ViT</a:t>
            </a:r>
            <a:r>
              <a:rPr lang="en-US" sz="1800" dirty="0"/>
              <a:t>) for advanced feature extraction</a:t>
            </a:r>
          </a:p>
          <a:p>
            <a:r>
              <a:rPr lang="en-US" sz="1800" dirty="0"/>
              <a:t>Captures global relationships using self-attention mechanism</a:t>
            </a:r>
          </a:p>
          <a:p>
            <a:r>
              <a:rPr lang="en-US" sz="1800" dirty="0"/>
              <a:t>Integrates multimodal data (MRI + clinical data)</a:t>
            </a:r>
          </a:p>
          <a:p>
            <a:r>
              <a:rPr lang="en-US" sz="1800" dirty="0"/>
              <a:t>Provides explainability using Grad-CAM and attention maps</a:t>
            </a:r>
          </a:p>
          <a:p>
            <a:r>
              <a:rPr lang="en-US" sz="1800" dirty="0"/>
              <a:t>Classifies dementia stages and predicts disease progression</a:t>
            </a:r>
          </a:p>
          <a:p>
            <a:r>
              <a:rPr lang="en-US" sz="1800" dirty="0"/>
              <a:t>Higher accuracy and better performance</a:t>
            </a:r>
          </a:p>
          <a:p>
            <a:r>
              <a:rPr lang="en-US" sz="1800" dirty="0"/>
              <a:t>Transparent and suitable for clinical applications</a:t>
            </a:r>
          </a:p>
          <a:p>
            <a:endParaRPr lang="en-US" sz="1800" dirty="0"/>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1800" dirty="0"/>
          </a:p>
          <a:p>
            <a:r>
              <a:rPr lang="en-US" sz="1800" b="1" dirty="0">
                <a:solidFill>
                  <a:srgbClr val="C00000"/>
                </a:solidFill>
              </a:rPr>
              <a:t>Limited Global Feature Learning</a:t>
            </a:r>
          </a:p>
          <a:p>
            <a:r>
              <a:rPr lang="en-US" sz="1800" dirty="0"/>
              <a:t>Existing CNN-based models focus only on local regions</a:t>
            </a:r>
          </a:p>
          <a:p>
            <a:r>
              <a:rPr lang="en-US" sz="1800" dirty="0"/>
              <a:t>Fail to capture relationships between different brain regions</a:t>
            </a:r>
          </a:p>
          <a:p>
            <a:r>
              <a:rPr lang="en-US" sz="1800" b="1" dirty="0">
                <a:solidFill>
                  <a:srgbClr val="C00000"/>
                </a:solidFill>
              </a:rPr>
              <a:t>Lack of Interpretability</a:t>
            </a:r>
          </a:p>
          <a:p>
            <a:r>
              <a:rPr lang="en-US" sz="1800" dirty="0"/>
              <a:t>Most models act as black-box systems</a:t>
            </a:r>
          </a:p>
          <a:p>
            <a:r>
              <a:rPr lang="en-US" sz="1800" dirty="0"/>
              <a:t>Difficult for doctors to understand and trust predictions</a:t>
            </a:r>
          </a:p>
          <a:p>
            <a:r>
              <a:rPr lang="en-US" sz="1800" b="1" dirty="0">
                <a:solidFill>
                  <a:srgbClr val="C00000"/>
                </a:solidFill>
              </a:rPr>
              <a:t>Poor Multimodal Integration</a:t>
            </a:r>
          </a:p>
          <a:p>
            <a:r>
              <a:rPr lang="en-US" sz="1800" dirty="0"/>
              <a:t>Many systems do not effectively combine MRI images with clinical data</a:t>
            </a:r>
          </a:p>
          <a:p>
            <a:r>
              <a:rPr lang="en-US" sz="1800" dirty="0"/>
              <a:t>Results in reduced prediction accuracy</a:t>
            </a:r>
          </a:p>
          <a:p>
            <a:r>
              <a:rPr lang="en-US" sz="1800" b="1" dirty="0">
                <a:solidFill>
                  <a:srgbClr val="C00000"/>
                </a:solidFill>
              </a:rPr>
              <a:t>Inaccurate Disease Progression Prediction</a:t>
            </a:r>
          </a:p>
          <a:p>
            <a:r>
              <a:rPr lang="en-US" sz="1800" dirty="0"/>
              <a:t>Existing models struggle to predict how the disease evolves over time</a:t>
            </a:r>
          </a:p>
          <a:p>
            <a:r>
              <a:rPr lang="en-US" sz="1800" b="1" dirty="0">
                <a:solidFill>
                  <a:srgbClr val="C00000"/>
                </a:solidFill>
              </a:rPr>
              <a:t>CNN models</a:t>
            </a:r>
          </a:p>
          <a:p>
            <a:r>
              <a:rPr lang="en-US" sz="1800" dirty="0"/>
              <a:t>No transformer-based models.</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1800" dirty="0"/>
          </a:p>
          <a:p>
            <a:pPr fontAlgn="auto">
              <a:spcAft>
                <a:spcPts val="0"/>
              </a:spcAft>
              <a:defRPr/>
            </a:pPr>
            <a:r>
              <a:rPr lang="en-US" sz="1800" dirty="0"/>
              <a:t>Alzheimer’s disease is a progressive neurological disorder that severely affects memory, thinking ability, and daily life. Early detection and accurate prediction of disease progression are essential for effective treatment and patient care</a:t>
            </a:r>
          </a:p>
          <a:p>
            <a:pPr fontAlgn="auto">
              <a:spcAft>
                <a:spcPts val="0"/>
              </a:spcAft>
              <a:defRPr/>
            </a:pPr>
            <a:r>
              <a:rPr lang="en-US" sz="1800" dirty="0"/>
              <a:t>However, existing AI-based systems, particularly CNN models, have several limitations. They mainly focus on local features in MRI images and fail to capture global relationships between different brain regions. Additionally, these models act as black-box systems, lacking interpretability, which reduces trust among medical professionals.</a:t>
            </a:r>
          </a:p>
          <a:p>
            <a:pPr fontAlgn="auto">
              <a:spcAft>
                <a:spcPts val="0"/>
              </a:spcAft>
              <a:defRPr/>
            </a:pPr>
            <a:r>
              <a:rPr lang="en-US" sz="1800" dirty="0"/>
              <a:t>Furthermore, many existing approaches do not effectively combine imaging data with clinical information, leading to lower prediction accuracy. They also struggle to accurately predict disease progression over time.</a:t>
            </a:r>
          </a:p>
          <a:p>
            <a:pPr fontAlgn="auto">
              <a:spcAft>
                <a:spcPts val="0"/>
              </a:spcAft>
              <a:defRPr/>
            </a:pPr>
            <a:r>
              <a:rPr lang="en-US" sz="1800" dirty="0"/>
              <a:t>Therefore, there is a need for an advanced, accurate, and explainable system that can effectively analyze both MRI and clinical data, provide reliable predictions, and support real-world clinical decision-making.</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4ACF-E93E-429C-B571-59A1E5F854AE}"/>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Proposed Project Objectives</a:t>
            </a:r>
          </a:p>
        </p:txBody>
      </p:sp>
      <p:sp>
        <p:nvSpPr>
          <p:cNvPr id="3" name="Content Placeholder 2">
            <a:extLst>
              <a:ext uri="{FF2B5EF4-FFF2-40B4-BE49-F238E27FC236}">
                <a16:creationId xmlns:a16="http://schemas.microsoft.com/office/drawing/2014/main" id="{0F718A44-8ABC-42DF-9BB1-E9A15FE0BCFB}"/>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marL="0" indent="0">
              <a:buNone/>
            </a:pPr>
            <a:endParaRPr lang="en-US" sz="1800" dirty="0"/>
          </a:p>
          <a:p>
            <a:r>
              <a:rPr lang="en-US" sz="1800" dirty="0"/>
              <a:t>To develop a transformer-based model using Vision Transformer (</a:t>
            </a:r>
            <a:r>
              <a:rPr lang="en-US" sz="1800" dirty="0" err="1"/>
              <a:t>ViT</a:t>
            </a:r>
            <a:r>
              <a:rPr lang="en-US" sz="1800" dirty="0"/>
              <a:t>) for analyzing MRI brain images</a:t>
            </a:r>
          </a:p>
          <a:p>
            <a:r>
              <a:rPr lang="en-US" sz="1800" dirty="0"/>
              <a:t>To capture global relationships in brain data using self-attention mechanisms</a:t>
            </a:r>
          </a:p>
          <a:p>
            <a:r>
              <a:rPr lang="en-US" sz="1800" dirty="0"/>
              <a:t>To integrate multimodal data (MRI images + clinical information) for improved accuracy</a:t>
            </a:r>
          </a:p>
          <a:p>
            <a:r>
              <a:rPr lang="en-US" sz="1800" dirty="0"/>
              <a:t>To classify Alzheimer’s disease into stages: Non-Demented, Very Mild, Mild, and Moderate</a:t>
            </a:r>
          </a:p>
          <a:p>
            <a:r>
              <a:rPr lang="en-US" sz="1800" dirty="0"/>
              <a:t>To predict disease progression using machine learning techniques like </a:t>
            </a:r>
            <a:r>
              <a:rPr lang="en-US" sz="1800" dirty="0" err="1"/>
              <a:t>XGBoost</a:t>
            </a:r>
            <a:r>
              <a:rPr lang="en-US" sz="1800" dirty="0"/>
              <a:t> and Cox Regression</a:t>
            </a:r>
          </a:p>
          <a:p>
            <a:r>
              <a:rPr lang="en-US" sz="1800" dirty="0"/>
              <a:t>To implement Explainable AI techniques (Grad-CAM, attention maps) for better interpretability</a:t>
            </a:r>
          </a:p>
          <a:p>
            <a:r>
              <a:rPr lang="en-US" sz="1800" dirty="0"/>
              <a:t>To evaluate model performance using metrics such as accuracy, precision, recall, and F1-score</a:t>
            </a:r>
          </a:p>
          <a:p>
            <a:pPr fontAlgn="auto">
              <a:spcAft>
                <a:spcPts val="0"/>
              </a:spcAft>
              <a:defRPr/>
            </a:pPr>
            <a:endParaRPr lang="en-US" sz="1800" dirty="0"/>
          </a:p>
        </p:txBody>
      </p:sp>
      <p:sp>
        <p:nvSpPr>
          <p:cNvPr id="5" name="Slide Number Placeholder 4">
            <a:extLst>
              <a:ext uri="{FF2B5EF4-FFF2-40B4-BE49-F238E27FC236}">
                <a16:creationId xmlns:a16="http://schemas.microsoft.com/office/drawing/2014/main" id="{4F44F6A7-E80B-4C13-8FAA-7BE38155FAB8}"/>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3C13DFD-FA58-48AD-B109-2C30D8D6F058}" type="slidenum">
              <a:rPr lang="en-US" altLang="en-US">
                <a:solidFill>
                  <a:srgbClr val="898989"/>
                </a:solidFill>
              </a:rPr>
              <a:pPr/>
              <a:t>7</a:t>
            </a:fld>
            <a:endParaRPr lang="en-US" altLang="en-US">
              <a:solidFill>
                <a:srgbClr val="898989"/>
              </a:solidFill>
            </a:endParaRPr>
          </a:p>
        </p:txBody>
      </p:sp>
      <p:pic>
        <p:nvPicPr>
          <p:cNvPr id="4" name="Picture 3">
            <a:extLst>
              <a:ext uri="{FF2B5EF4-FFF2-40B4-BE49-F238E27FC236}">
                <a16:creationId xmlns:a16="http://schemas.microsoft.com/office/drawing/2014/main" id="{24D567A5-0A6B-AFA0-3540-53A824978C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endParaRPr lang="en-US" dirty="0"/>
          </a:p>
          <a:p>
            <a:r>
              <a:rPr lang="en-US" sz="1800" dirty="0"/>
              <a:t>Accurate detection of Alzheimer’s disease using MRI brain images</a:t>
            </a:r>
          </a:p>
          <a:p>
            <a:r>
              <a:rPr lang="en-US" sz="1800" dirty="0"/>
              <a:t>Classification of patients into four stages: Non-Demented, Very Mild, Mild, and Moderate Dementia</a:t>
            </a:r>
          </a:p>
          <a:p>
            <a:r>
              <a:rPr lang="en-US" sz="1800" dirty="0"/>
              <a:t>Reliable prediction of disease progression (MMSE score prediction)</a:t>
            </a:r>
          </a:p>
          <a:p>
            <a:r>
              <a:rPr lang="en-US" sz="1800" dirty="0"/>
              <a:t>Improved performance through integration of multimodal data (MRI + clinical data)</a:t>
            </a:r>
          </a:p>
          <a:p>
            <a:r>
              <a:rPr lang="en-US" sz="1800" dirty="0"/>
              <a:t>Generation of visual explanations using Explainable AI (heatmaps, attention maps)</a:t>
            </a:r>
          </a:p>
          <a:p>
            <a:r>
              <a:rPr lang="en-US" sz="1800" dirty="0"/>
              <a:t>Enhanced transparency and trust in model predictions</a:t>
            </a:r>
          </a:p>
          <a:p>
            <a:r>
              <a:rPr lang="en-US" sz="1800" dirty="0"/>
              <a:t>A practical system suitable for clinical decision support</a:t>
            </a:r>
          </a:p>
          <a:p>
            <a:endParaRPr lang="en-US" sz="1800" dirty="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DCE2FDDD-2424-0E7F-DD96-199FAF1E2F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a:buNone/>
            </a:pPr>
            <a:r>
              <a:rPr lang="en-US" sz="1800" b="1" dirty="0">
                <a:solidFill>
                  <a:srgbClr val="C00000"/>
                </a:solidFill>
              </a:rPr>
              <a:t>Software Requirements</a:t>
            </a:r>
          </a:p>
          <a:p>
            <a:r>
              <a:rPr lang="en-US" sz="1800" dirty="0"/>
              <a:t>Operating System: Windows / Linux / macOS</a:t>
            </a:r>
          </a:p>
          <a:p>
            <a:r>
              <a:rPr lang="en-US" sz="1800" dirty="0"/>
              <a:t>Programming Language: Python</a:t>
            </a:r>
          </a:p>
          <a:p>
            <a:r>
              <a:rPr lang="en-US" sz="1800" dirty="0"/>
              <a:t>Deep Learning Frameworks: TensorFlow / </a:t>
            </a:r>
            <a:r>
              <a:rPr lang="en-US" sz="1800" dirty="0" err="1"/>
              <a:t>PyTorch</a:t>
            </a:r>
            <a:endParaRPr lang="en-US" sz="1800" dirty="0"/>
          </a:p>
          <a:p>
            <a:r>
              <a:rPr lang="en-US" sz="1800" dirty="0"/>
              <a:t>Libraries: NumPy, Pandas, Scikit-learn, OpenCV</a:t>
            </a:r>
          </a:p>
          <a:p>
            <a:r>
              <a:rPr lang="en-US" sz="1800" dirty="0"/>
              <a:t>Machine Learning: </a:t>
            </a:r>
            <a:r>
              <a:rPr lang="en-US" sz="1800" dirty="0" err="1"/>
              <a:t>XGBoost</a:t>
            </a:r>
            <a:endParaRPr lang="en-US" sz="1800" dirty="0"/>
          </a:p>
          <a:p>
            <a:r>
              <a:rPr lang="en-US" sz="1800" dirty="0"/>
              <a:t>Tools: </a:t>
            </a:r>
            <a:r>
              <a:rPr lang="en-US" sz="1800" dirty="0" err="1"/>
              <a:t>Jupyter</a:t>
            </a:r>
            <a:r>
              <a:rPr lang="en-US" sz="1800" dirty="0"/>
              <a:t> Notebook, VS Code, PyCharm</a:t>
            </a:r>
          </a:p>
          <a:p>
            <a:r>
              <a:rPr lang="en-US" sz="1800" dirty="0"/>
              <a:t>Backend Framework: Flask / </a:t>
            </a:r>
            <a:r>
              <a:rPr lang="en-US" sz="1800" dirty="0" err="1"/>
              <a:t>Streamlit</a:t>
            </a:r>
            <a:endParaRPr lang="en-US" sz="1800" dirty="0"/>
          </a:p>
          <a:p>
            <a:r>
              <a:rPr lang="en-US" sz="1800" dirty="0"/>
              <a:t>Visualization Tools: Matplotlib, Seaborn</a:t>
            </a:r>
          </a:p>
          <a:p>
            <a:r>
              <a:rPr lang="en-US" sz="1800" dirty="0"/>
              <a:t>Dataset: OASIS MRI Dataset</a:t>
            </a:r>
          </a:p>
          <a:p>
            <a:pPr>
              <a:buNone/>
            </a:pPr>
            <a:r>
              <a:rPr lang="en-US" sz="1800" b="1" dirty="0">
                <a:solidFill>
                  <a:srgbClr val="C00000"/>
                </a:solidFill>
              </a:rPr>
              <a:t>Hardware Requirements</a:t>
            </a:r>
          </a:p>
          <a:p>
            <a:r>
              <a:rPr lang="en-US" sz="1800" dirty="0"/>
              <a:t>Processor: Intel Core i5 or above</a:t>
            </a:r>
          </a:p>
          <a:p>
            <a:r>
              <a:rPr lang="en-US" sz="1800" dirty="0"/>
              <a:t>RAM: Minimum 8 GB (16 GB recommended)</a:t>
            </a:r>
          </a:p>
          <a:p>
            <a:r>
              <a:rPr lang="en-US" sz="1800" dirty="0"/>
              <a:t>Storage: Minimum 256 GB</a:t>
            </a:r>
          </a:p>
          <a:p>
            <a:r>
              <a:rPr lang="en-US" sz="1800" dirty="0"/>
              <a:t>GPU: NVIDIA GPU (optional but recommended for faster training)</a:t>
            </a:r>
          </a:p>
          <a:p>
            <a:r>
              <a:rPr lang="en-US" sz="1800" dirty="0"/>
              <a:t>System Type: 64-bit Operating System</a:t>
            </a:r>
          </a:p>
          <a:p>
            <a:pPr>
              <a:buNone/>
            </a:pPr>
            <a:endParaRPr lang="en-US" sz="1800" dirty="0"/>
          </a:p>
        </p:txBody>
      </p:sp>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fontScale="92500" lnSpcReduction="20000"/>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n-US" sz="1800" dirty="0"/>
              <a:t>The proposed system, XAI-TransMed, follows a structured pipeline for Alzheimer’s disease detection and progression prediction.</a:t>
            </a:r>
          </a:p>
          <a:p>
            <a:r>
              <a:rPr lang="en-US" sz="1800" b="1" dirty="0"/>
              <a:t>Input Layer</a:t>
            </a:r>
            <a:br>
              <a:rPr lang="en-US" sz="1800" dirty="0"/>
            </a:br>
            <a:r>
              <a:rPr lang="en-US" sz="1800" dirty="0"/>
              <a:t>Users upload MRI brain images along with clinical data such as age, MMSE score, and other parameters.</a:t>
            </a:r>
          </a:p>
          <a:p>
            <a:r>
              <a:rPr lang="en-US" sz="1800" b="1" dirty="0"/>
              <a:t>Preprocessing</a:t>
            </a:r>
            <a:br>
              <a:rPr lang="en-US" sz="1800" dirty="0"/>
            </a:br>
            <a:r>
              <a:rPr lang="en-US" sz="1800" dirty="0"/>
              <a:t>The MRI images are resized, normalized, and cleaned to remove noise for better analysis.</a:t>
            </a:r>
          </a:p>
          <a:p>
            <a:r>
              <a:rPr lang="en-US" sz="1800" b="1" dirty="0"/>
              <a:t>Feature Extraction (</a:t>
            </a:r>
            <a:r>
              <a:rPr lang="en-US" sz="1800" b="1" dirty="0" err="1"/>
              <a:t>ViT</a:t>
            </a:r>
            <a:r>
              <a:rPr lang="en-US" sz="1800" b="1" dirty="0"/>
              <a:t>)</a:t>
            </a:r>
            <a:br>
              <a:rPr lang="en-US" sz="1800" dirty="0"/>
            </a:br>
            <a:r>
              <a:rPr lang="en-US" sz="1800" dirty="0"/>
              <a:t>A Vision Transformer (</a:t>
            </a:r>
            <a:r>
              <a:rPr lang="en-US" sz="1800" dirty="0" err="1"/>
              <a:t>ViT</a:t>
            </a:r>
            <a:r>
              <a:rPr lang="en-US" sz="1800" dirty="0"/>
              <a:t>) extracts important features from MRI images by capturing global relationships using self-attention.</a:t>
            </a:r>
          </a:p>
          <a:p>
            <a:r>
              <a:rPr lang="en-US" sz="1800" b="1" dirty="0"/>
              <a:t>Multimodal Integration</a:t>
            </a:r>
            <a:br>
              <a:rPr lang="en-US" sz="1800" dirty="0"/>
            </a:br>
            <a:r>
              <a:rPr lang="en-US" sz="1800" dirty="0"/>
              <a:t>Extracted image features are combined with clinical data to improve prediction accuracy.</a:t>
            </a:r>
          </a:p>
          <a:p>
            <a:r>
              <a:rPr lang="en-US" sz="1800" b="1" dirty="0"/>
              <a:t>Classification Module</a:t>
            </a:r>
            <a:br>
              <a:rPr lang="en-US" sz="1800" dirty="0"/>
            </a:br>
            <a:r>
              <a:rPr lang="en-US" sz="1800" dirty="0"/>
              <a:t>The system classifies the patient into dementia stages: Non-Demented, Very Mild, Mild, or Moderate.</a:t>
            </a:r>
          </a:p>
          <a:p>
            <a:r>
              <a:rPr lang="en-US" sz="1800" b="1" dirty="0"/>
              <a:t>Progression Prediction</a:t>
            </a:r>
            <a:br>
              <a:rPr lang="en-US" sz="1800" dirty="0"/>
            </a:br>
            <a:r>
              <a:rPr lang="en-US" sz="1800" dirty="0"/>
              <a:t>Machine learning models like </a:t>
            </a:r>
            <a:r>
              <a:rPr lang="en-US" sz="1800" dirty="0" err="1"/>
              <a:t>XGBoost</a:t>
            </a:r>
            <a:r>
              <a:rPr lang="en-US" sz="1800" dirty="0"/>
              <a:t> and Cox Regression predict disease progression (MMSE score).</a:t>
            </a:r>
          </a:p>
          <a:p>
            <a:r>
              <a:rPr lang="en-US" sz="1800" b="1" dirty="0"/>
              <a:t>Explainable AI (XAI)</a:t>
            </a:r>
            <a:br>
              <a:rPr lang="en-US" sz="1800" dirty="0"/>
            </a:br>
            <a:r>
              <a:rPr lang="en-US" sz="1800" dirty="0"/>
              <a:t>Attention maps and Grad-CAM generate heatmaps to highlight important brain regions influencing predictions.</a:t>
            </a:r>
          </a:p>
          <a:p>
            <a:r>
              <a:rPr lang="en-US" sz="1800" b="1" dirty="0"/>
              <a:t>Output Layer</a:t>
            </a:r>
            <a:br>
              <a:rPr lang="en-US" sz="1800" dirty="0"/>
            </a:br>
            <a:r>
              <a:rPr lang="en-US" sz="1800" dirty="0"/>
              <a:t>The system displays the predicted class, probabilities, progression score, and visual explanations.</a:t>
            </a:r>
          </a:p>
          <a:p>
            <a:pPr fontAlgn="auto">
              <a:spcAft>
                <a:spcPts val="0"/>
              </a:spcAft>
              <a:defRPr/>
            </a:pPr>
            <a:endParaRPr lang="en-US" sz="1800" dirty="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fontAlgn="auto">
              <a:spcAft>
                <a:spcPts val="0"/>
              </a:spcAft>
              <a:buNone/>
              <a:defRPr/>
            </a:pPr>
            <a:endParaRPr lang="en-US" sz="1800" dirty="0"/>
          </a:p>
          <a:p>
            <a:r>
              <a:rPr lang="en-US" sz="1800" b="1" dirty="0">
                <a:solidFill>
                  <a:srgbClr val="C00000"/>
                </a:solidFill>
              </a:rPr>
              <a:t>Method:</a:t>
            </a:r>
          </a:p>
          <a:p>
            <a:r>
              <a:rPr lang="en-US" sz="1800" dirty="0"/>
              <a:t>MRI images and clinical data are taken as input</a:t>
            </a:r>
          </a:p>
          <a:p>
            <a:r>
              <a:rPr lang="en-US" sz="1800" dirty="0"/>
              <a:t>Images are preprocessed (resizing, normalization)</a:t>
            </a:r>
          </a:p>
          <a:p>
            <a:r>
              <a:rPr lang="en-US" sz="1800" dirty="0"/>
              <a:t>Vision Transformer (</a:t>
            </a:r>
            <a:r>
              <a:rPr lang="en-US" sz="1800" dirty="0" err="1"/>
              <a:t>ViT</a:t>
            </a:r>
            <a:r>
              <a:rPr lang="en-US" sz="1800" dirty="0"/>
              <a:t>) extracts global features</a:t>
            </a:r>
          </a:p>
          <a:p>
            <a:r>
              <a:rPr lang="en-US" sz="1800" dirty="0"/>
              <a:t>Image features are combined with clinical data</a:t>
            </a:r>
          </a:p>
          <a:p>
            <a:r>
              <a:rPr lang="en-US" sz="1800" dirty="0"/>
              <a:t>Model classifies dementia stages</a:t>
            </a:r>
          </a:p>
          <a:p>
            <a:r>
              <a:rPr lang="en-US" sz="1800" dirty="0" err="1"/>
              <a:t>XGBoost</a:t>
            </a:r>
            <a:r>
              <a:rPr lang="en-US" sz="1800" dirty="0"/>
              <a:t> predicts disease progression (MMSE score)</a:t>
            </a:r>
          </a:p>
          <a:p>
            <a:r>
              <a:rPr lang="en-US" sz="1800" dirty="0"/>
              <a:t>Explainable AI generates heatmaps for interpretation</a:t>
            </a:r>
          </a:p>
          <a:p>
            <a:r>
              <a:rPr lang="en-US" sz="1800" b="1" dirty="0">
                <a:solidFill>
                  <a:srgbClr val="C00000"/>
                </a:solidFill>
              </a:rPr>
              <a:t>Algorithms</a:t>
            </a:r>
            <a:r>
              <a:rPr lang="en-US" sz="1800" dirty="0"/>
              <a:t>:</a:t>
            </a:r>
          </a:p>
          <a:p>
            <a:r>
              <a:rPr lang="en-US" sz="1800" dirty="0"/>
              <a:t>Vision Transformer (</a:t>
            </a:r>
            <a:r>
              <a:rPr lang="en-US" sz="1800" dirty="0" err="1"/>
              <a:t>ViT</a:t>
            </a:r>
            <a:r>
              <a:rPr lang="en-US" sz="1800" dirty="0"/>
              <a:t>): captures global relationships in MRI images</a:t>
            </a:r>
          </a:p>
          <a:p>
            <a:r>
              <a:rPr lang="en-US" sz="1800" dirty="0" err="1"/>
              <a:t>XGBoost</a:t>
            </a:r>
            <a:r>
              <a:rPr lang="en-US" sz="1800" dirty="0"/>
              <a:t>: predicts disease progression using clinical + image features</a:t>
            </a:r>
          </a:p>
          <a:p>
            <a:r>
              <a:rPr lang="en-US" sz="1800" dirty="0"/>
              <a:t>Classification Model: identifies dementia stages</a:t>
            </a:r>
          </a:p>
          <a:p>
            <a:r>
              <a:rPr lang="en-US" sz="1800" dirty="0"/>
              <a:t>Grad-CAM / Attention: provides visual explanations (heatmaps)</a:t>
            </a:r>
          </a:p>
          <a:p>
            <a:pPr fontAlgn="auto">
              <a:spcAft>
                <a:spcPts val="0"/>
              </a:spcAft>
              <a:buFont typeface="Arial" panose="020B0604020202020204" pitchFamily="34" charset="0"/>
              <a:buNone/>
              <a:defRPr/>
            </a:pPr>
            <a:endParaRPr lang="en-US" sz="1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75962246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1800" dirty="0"/>
          </a:p>
          <a:p>
            <a:r>
              <a:rPr lang="en-US" sz="1800" dirty="0"/>
              <a:t>The proposed XAI-TransMed model achieved very high classification accuracy of </a:t>
            </a:r>
            <a:r>
              <a:rPr lang="en-US" sz="1800" b="1" dirty="0"/>
              <a:t>98.6%</a:t>
            </a:r>
            <a:r>
              <a:rPr lang="en-US" sz="1800" dirty="0"/>
              <a:t> on the OASIS dataset </a:t>
            </a:r>
          </a:p>
          <a:p>
            <a:r>
              <a:rPr lang="en-US" sz="1800" dirty="0"/>
              <a:t>🔹 Successfully classified Alzheimer’s disease into four stages:</a:t>
            </a:r>
            <a:br>
              <a:rPr lang="en-US" sz="1800" dirty="0"/>
            </a:br>
            <a:r>
              <a:rPr lang="en-US" sz="1800" dirty="0"/>
              <a:t>Non-Demented, Very Mild, Mild, and Moderate Dementia</a:t>
            </a:r>
          </a:p>
          <a:p>
            <a:r>
              <a:rPr lang="en-US" sz="1800" dirty="0"/>
              <a:t>🔹 Achieved strong performance with high precision, recall, and F1-score across all classes</a:t>
            </a:r>
          </a:p>
          <a:p>
            <a:r>
              <a:rPr lang="en-US" sz="1800" dirty="0"/>
              <a:t>🔹 </a:t>
            </a:r>
            <a:r>
              <a:rPr lang="en-US" sz="1800" dirty="0" err="1"/>
              <a:t>XGBoost</a:t>
            </a:r>
            <a:r>
              <a:rPr lang="en-US" sz="1800" dirty="0"/>
              <a:t> model showed best performance for disease progression prediction with </a:t>
            </a:r>
            <a:r>
              <a:rPr lang="en-US" sz="1800" b="1" dirty="0"/>
              <a:t>MAE of 2.48</a:t>
            </a:r>
            <a:r>
              <a:rPr lang="en-US" sz="1800" dirty="0"/>
              <a:t> for MMSE score </a:t>
            </a:r>
          </a:p>
          <a:p>
            <a:r>
              <a:rPr lang="en-US" sz="1800" dirty="0"/>
              <a:t>🔹 Explainable AI generated attention heatmaps highlighting important brain regions</a:t>
            </a:r>
          </a:p>
          <a:p>
            <a:r>
              <a:rPr lang="en-US" sz="1800" dirty="0"/>
              <a:t>🔹 Fast computation: prediction time is less than 1 second, suitable for real-time clinical use </a:t>
            </a:r>
          </a:p>
          <a:p>
            <a:r>
              <a:rPr lang="en-US" sz="1800" dirty="0"/>
              <a:t>🔹 Overall system is accurate, interpretable, and reliable for clinical decision support</a:t>
            </a:r>
          </a:p>
          <a:p>
            <a:pPr fontAlgn="auto">
              <a:spcAft>
                <a:spcPts val="0"/>
              </a:spcAft>
              <a:defRPr/>
            </a:pPr>
            <a:endParaRPr lang="en-US" sz="1800" dirty="0"/>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17296609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Research Paper (Acceptance Proof)</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1800" dirty="0"/>
          </a:p>
          <a:p>
            <a:pPr fontAlgn="auto">
              <a:spcAft>
                <a:spcPts val="0"/>
              </a:spcAft>
              <a:defRPr/>
            </a:pPr>
            <a:r>
              <a:rPr lang="en-US" sz="1800" b="1" dirty="0">
                <a:solidFill>
                  <a:srgbClr val="C00000"/>
                </a:solidFill>
              </a:rPr>
              <a:t>Research Paper Details</a:t>
            </a:r>
          </a:p>
          <a:p>
            <a:pPr fontAlgn="auto">
              <a:lnSpc>
                <a:spcPct val="110000"/>
              </a:lnSpc>
              <a:spcBef>
                <a:spcPts val="400"/>
              </a:spcBef>
              <a:spcAft>
                <a:spcPts val="0"/>
              </a:spcAft>
              <a:buNone/>
            </a:pPr>
            <a:r>
              <a:rPr lang="en-US" sz="1900" b="1" dirty="0"/>
              <a:t>Title:</a:t>
            </a:r>
          </a:p>
          <a:p>
            <a:pPr fontAlgn="auto">
              <a:lnSpc>
                <a:spcPct val="110000"/>
              </a:lnSpc>
              <a:spcBef>
                <a:spcPts val="400"/>
              </a:spcBef>
              <a:spcAft>
                <a:spcPts val="0"/>
              </a:spcAft>
              <a:buNone/>
            </a:pPr>
            <a:r>
              <a:rPr lang="en-US" sz="1800" dirty="0"/>
              <a:t> XAI-TransMed: Explainable AI Transformer-Based Medical Model for Alzheimer’s Disease Detection and Progression Rate</a:t>
            </a:r>
          </a:p>
          <a:p>
            <a:pPr fontAlgn="auto">
              <a:lnSpc>
                <a:spcPct val="110000"/>
              </a:lnSpc>
              <a:spcBef>
                <a:spcPts val="400"/>
              </a:spcBef>
              <a:spcAft>
                <a:spcPts val="0"/>
              </a:spcAft>
              <a:buNone/>
            </a:pPr>
            <a:r>
              <a:rPr lang="en-US" sz="1900" b="1" dirty="0"/>
              <a:t>Authors:</a:t>
            </a:r>
          </a:p>
          <a:p>
            <a:pPr fontAlgn="auto">
              <a:lnSpc>
                <a:spcPct val="110000"/>
              </a:lnSpc>
              <a:spcBef>
                <a:spcPts val="400"/>
              </a:spcBef>
              <a:spcAft>
                <a:spcPts val="0"/>
              </a:spcAft>
              <a:buNone/>
            </a:pPr>
            <a:r>
              <a:rPr lang="en-US" sz="1800" dirty="0"/>
              <a:t>D. Archana, A. Shashank, V. Sai Krishnareddy</a:t>
            </a:r>
          </a:p>
          <a:p>
            <a:pPr fontAlgn="auto">
              <a:lnSpc>
                <a:spcPct val="110000"/>
              </a:lnSpc>
              <a:spcBef>
                <a:spcPts val="400"/>
              </a:spcBef>
              <a:spcAft>
                <a:spcPts val="0"/>
              </a:spcAft>
              <a:buNone/>
            </a:pPr>
            <a:r>
              <a:rPr lang="en-US" sz="1900" b="1" dirty="0"/>
              <a:t>Affiliation:</a:t>
            </a:r>
          </a:p>
          <a:p>
            <a:pPr fontAlgn="auto">
              <a:lnSpc>
                <a:spcPct val="110000"/>
              </a:lnSpc>
              <a:spcBef>
                <a:spcPts val="400"/>
              </a:spcBef>
              <a:spcAft>
                <a:spcPts val="0"/>
              </a:spcAft>
              <a:buNone/>
            </a:pPr>
            <a:r>
              <a:rPr lang="en-US" sz="1800" dirty="0"/>
              <a:t>Dept. of CSE, Vardhaman College of Engineering, Hyderabad, India</a:t>
            </a:r>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23957614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1B5F2-021D-8C16-463B-39B5BC076D13}"/>
              </a:ext>
            </a:extLst>
          </p:cNvPr>
          <p:cNvSpPr>
            <a:spLocks noGrp="1"/>
          </p:cNvSpPr>
          <p:nvPr>
            <p:ph type="title"/>
          </p:nvPr>
        </p:nvSpPr>
        <p:spPr/>
        <p:txBody>
          <a:bodyPr/>
          <a:lstStyle/>
          <a:p>
            <a:r>
              <a:rPr lang="en-US" sz="3200" b="1" dirty="0">
                <a:solidFill>
                  <a:srgbClr val="C00000"/>
                </a:solidFill>
                <a:cs typeface="Calibri"/>
              </a:rPr>
              <a:t>Research Paper (Acceptance Proof)</a:t>
            </a:r>
            <a:endParaRPr lang="en-US" sz="3200" dirty="0"/>
          </a:p>
        </p:txBody>
      </p:sp>
      <p:pic>
        <p:nvPicPr>
          <p:cNvPr id="7" name="Content Placeholder 6">
            <a:extLst>
              <a:ext uri="{FF2B5EF4-FFF2-40B4-BE49-F238E27FC236}">
                <a16:creationId xmlns:a16="http://schemas.microsoft.com/office/drawing/2014/main" id="{EA758D65-FCE9-BEF4-AD7E-CF88FB71611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5935"/>
          <a:stretch>
            <a:fillRect/>
          </a:stretch>
        </p:blipFill>
        <p:spPr>
          <a:xfrm>
            <a:off x="2171700" y="1066800"/>
            <a:ext cx="4800600" cy="4830763"/>
          </a:xfrm>
        </p:spPr>
      </p:pic>
      <p:sp>
        <p:nvSpPr>
          <p:cNvPr id="4" name="Footer Placeholder 3">
            <a:extLst>
              <a:ext uri="{FF2B5EF4-FFF2-40B4-BE49-F238E27FC236}">
                <a16:creationId xmlns:a16="http://schemas.microsoft.com/office/drawing/2014/main" id="{6990003D-AEB5-FD07-6512-0C45E88B9C14}"/>
              </a:ext>
            </a:extLst>
          </p:cNvPr>
          <p:cNvSpPr>
            <a:spLocks noGrp="1"/>
          </p:cNvSpPr>
          <p:nvPr>
            <p:ph type="ftr" sz="quarter" idx="11"/>
          </p:nvPr>
        </p:nvSpPr>
        <p:spPr/>
        <p:txBody>
          <a:bodyPr/>
          <a:lstStyle/>
          <a:p>
            <a:pPr>
              <a:defRPr/>
            </a:pPr>
            <a:r>
              <a:rPr lang="en-US"/>
              <a:t>DEPARTMENT OF CSE MINI PROJECT REVIEW-1</a:t>
            </a:r>
          </a:p>
        </p:txBody>
      </p:sp>
      <p:sp>
        <p:nvSpPr>
          <p:cNvPr id="5" name="Slide Number Placeholder 4">
            <a:extLst>
              <a:ext uri="{FF2B5EF4-FFF2-40B4-BE49-F238E27FC236}">
                <a16:creationId xmlns:a16="http://schemas.microsoft.com/office/drawing/2014/main" id="{10D2ABF1-E09F-60BE-64EB-04C4628227A4}"/>
              </a:ext>
            </a:extLst>
          </p:cNvPr>
          <p:cNvSpPr>
            <a:spLocks noGrp="1"/>
          </p:cNvSpPr>
          <p:nvPr>
            <p:ph type="sldNum" sz="quarter" idx="12"/>
          </p:nvPr>
        </p:nvSpPr>
        <p:spPr/>
        <p:txBody>
          <a:bodyPr/>
          <a:lstStyle/>
          <a:p>
            <a:fld id="{E021BEF2-95F5-417E-9097-980329164CCD}" type="slidenum">
              <a:rPr lang="en-US" altLang="en-US" smtClean="0"/>
              <a:pPr/>
              <a:t>14</a:t>
            </a:fld>
            <a:endParaRPr lang="en-US" altLang="en-US"/>
          </a:p>
        </p:txBody>
      </p:sp>
    </p:spTree>
    <p:extLst>
      <p:ext uri="{BB962C8B-B14F-4D97-AF65-F5344CB8AC3E}">
        <p14:creationId xmlns:p14="http://schemas.microsoft.com/office/powerpoint/2010/main" val="950785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15</a:t>
            </a:fld>
            <a:endParaRPr lang="en-US"/>
          </a:p>
        </p:txBody>
      </p:sp>
      <p:sp>
        <p:nvSpPr>
          <p:cNvPr id="8" name="Content Placeholder 7"/>
          <p:cNvSpPr>
            <a:spLocks noGrp="1"/>
          </p:cNvSpPr>
          <p:nvPr>
            <p:ph idx="1"/>
          </p:nvPr>
        </p:nvSpPr>
        <p:spPr>
          <a:xfrm>
            <a:off x="304800" y="914400"/>
            <a:ext cx="8229600" cy="4525963"/>
          </a:xfrm>
        </p:spPr>
        <p:txBody>
          <a:bodyPr/>
          <a:lstStyle/>
          <a:p>
            <a:pPr fontAlgn="auto">
              <a:lnSpc>
                <a:spcPct val="110000"/>
              </a:lnSpc>
              <a:spcBef>
                <a:spcPts val="400"/>
              </a:spcBef>
              <a:spcAft>
                <a:spcPts val="0"/>
              </a:spcAft>
              <a:buNone/>
            </a:pPr>
            <a:r>
              <a:rPr lang="en-US" sz="2000" b="1" dirty="0">
                <a:solidFill>
                  <a:srgbClr val="C00000"/>
                </a:solidFill>
              </a:rPr>
              <a:t>Conclusion</a:t>
            </a:r>
          </a:p>
          <a:p>
            <a:pPr fontAlgn="auto">
              <a:lnSpc>
                <a:spcPct val="110000"/>
              </a:lnSpc>
              <a:spcBef>
                <a:spcPts val="400"/>
              </a:spcBef>
              <a:spcAft>
                <a:spcPts val="0"/>
              </a:spcAft>
              <a:buNone/>
            </a:pPr>
            <a:endParaRPr lang="en-US" sz="2000" b="1" dirty="0">
              <a:solidFill>
                <a:srgbClr val="C00000"/>
              </a:solidFill>
            </a:endParaRPr>
          </a:p>
          <a:p>
            <a:pPr fontAlgn="auto">
              <a:lnSpc>
                <a:spcPct val="110000"/>
              </a:lnSpc>
              <a:spcBef>
                <a:spcPts val="400"/>
              </a:spcBef>
              <a:spcAft>
                <a:spcPts val="0"/>
              </a:spcAft>
              <a:buNone/>
            </a:pPr>
            <a:endParaRPr lang="en-US" sz="1800" b="1" dirty="0">
              <a:solidFill>
                <a:srgbClr val="C00000"/>
              </a:solidFill>
            </a:endParaRPr>
          </a:p>
          <a:p>
            <a:pPr marL="0" indent="0" fontAlgn="auto">
              <a:lnSpc>
                <a:spcPct val="110000"/>
              </a:lnSpc>
              <a:spcBef>
                <a:spcPts val="200"/>
              </a:spcBef>
              <a:spcAft>
                <a:spcPts val="0"/>
              </a:spcAft>
              <a:buNone/>
            </a:pPr>
            <a:endParaRPr lang="en-US" sz="2000" b="1" dirty="0">
              <a:solidFill>
                <a:srgbClr val="C00000"/>
              </a:solidFill>
            </a:endParaRPr>
          </a:p>
          <a:p>
            <a:pPr marL="0" indent="0" fontAlgn="auto">
              <a:lnSpc>
                <a:spcPct val="110000"/>
              </a:lnSpc>
              <a:spcBef>
                <a:spcPts val="200"/>
              </a:spcBef>
              <a:spcAft>
                <a:spcPts val="0"/>
              </a:spcAft>
              <a:buNone/>
            </a:pPr>
            <a:endParaRPr lang="en-US" sz="2000" b="1" dirty="0">
              <a:solidFill>
                <a:srgbClr val="C00000"/>
              </a:solidFill>
            </a:endParaRPr>
          </a:p>
          <a:p>
            <a:pPr marL="0" indent="0" fontAlgn="auto">
              <a:lnSpc>
                <a:spcPct val="110000"/>
              </a:lnSpc>
              <a:spcBef>
                <a:spcPts val="200"/>
              </a:spcBef>
              <a:spcAft>
                <a:spcPts val="0"/>
              </a:spcAft>
              <a:buNone/>
            </a:pPr>
            <a:endParaRPr lang="en-US" sz="2000" b="1" dirty="0">
              <a:solidFill>
                <a:srgbClr val="C00000"/>
              </a:solidFill>
            </a:endParaRPr>
          </a:p>
          <a:p>
            <a:pPr marL="0" indent="0" fontAlgn="auto">
              <a:lnSpc>
                <a:spcPct val="110000"/>
              </a:lnSpc>
              <a:spcBef>
                <a:spcPts val="200"/>
              </a:spcBef>
              <a:spcAft>
                <a:spcPts val="0"/>
              </a:spcAft>
              <a:buNone/>
            </a:pPr>
            <a:r>
              <a:rPr lang="en-US" sz="2000" b="1" dirty="0">
                <a:solidFill>
                  <a:srgbClr val="C00000"/>
                </a:solidFill>
              </a:rPr>
              <a:t>Future Scope</a:t>
            </a:r>
          </a:p>
          <a:p>
            <a:pPr fontAlgn="auto">
              <a:lnSpc>
                <a:spcPct val="110000"/>
              </a:lnSpc>
              <a:spcBef>
                <a:spcPts val="200"/>
              </a:spcBef>
              <a:spcAft>
                <a:spcPts val="0"/>
              </a:spcAft>
            </a:pPr>
            <a:endParaRPr lang="en-US" sz="1800" dirty="0"/>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Rectangle 4">
            <a:extLst>
              <a:ext uri="{FF2B5EF4-FFF2-40B4-BE49-F238E27FC236}">
                <a16:creationId xmlns:a16="http://schemas.microsoft.com/office/drawing/2014/main" id="{A10B2FD9-DD88-6A81-4B47-A14181D3C437}"/>
              </a:ext>
            </a:extLst>
          </p:cNvPr>
          <p:cNvSpPr>
            <a:spLocks noChangeArrowheads="1"/>
          </p:cNvSpPr>
          <p:nvPr/>
        </p:nvSpPr>
        <p:spPr bwMode="auto">
          <a:xfrm>
            <a:off x="426744" y="-3093147"/>
            <a:ext cx="822960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Proposed XAI-TransMed improves Alzheimer’s detection using Vision Transformer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Achieves high accuracy and reliable stage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Multimodal data enhances prediction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Explainable AI provides transparency through heatmaps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Suitable for real-world clinical decision support </a:t>
            </a:r>
          </a:p>
        </p:txBody>
      </p:sp>
      <p:sp>
        <p:nvSpPr>
          <p:cNvPr id="11" name="Rectangle 5">
            <a:extLst>
              <a:ext uri="{FF2B5EF4-FFF2-40B4-BE49-F238E27FC236}">
                <a16:creationId xmlns:a16="http://schemas.microsoft.com/office/drawing/2014/main" id="{51FEB678-5ECF-3C44-359D-B2264AEFDF5E}"/>
              </a:ext>
            </a:extLst>
          </p:cNvPr>
          <p:cNvSpPr>
            <a:spLocks noChangeArrowheads="1"/>
          </p:cNvSpPr>
          <p:nvPr/>
        </p:nvSpPr>
        <p:spPr bwMode="auto">
          <a:xfrm>
            <a:off x="426744" y="-5863128"/>
            <a:ext cx="6455268" cy="1172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larger and more diverse datasets for better generalization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progression prediction using advanced temporal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Extend system for real-time clinical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Enhance explainability with more advanced XAI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Integrate additional medical data like PET scans or genetic data </a:t>
            </a:r>
          </a:p>
        </p:txBody>
      </p:sp>
    </p:spTree>
    <p:extLst>
      <p:ext uri="{BB962C8B-B14F-4D97-AF65-F5344CB8AC3E}">
        <p14:creationId xmlns:p14="http://schemas.microsoft.com/office/powerpoint/2010/main" val="34456929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16</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2857</TotalTime>
  <Words>1579</Words>
  <Application>Microsoft Office PowerPoint</Application>
  <PresentationFormat>On-screen Show (4:3)</PresentationFormat>
  <Paragraphs>271</Paragraphs>
  <Slides>16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Arial,Sans-Serif</vt:lpstr>
      <vt:lpstr>Calibri</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Results</vt:lpstr>
      <vt:lpstr>Research Paper (Acceptance Proof)</vt:lpstr>
      <vt:lpstr>Research Paper (Acceptance Proof)</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Archana Danam</cp:lastModifiedBy>
  <cp:revision>528</cp:revision>
  <dcterms:created xsi:type="dcterms:W3CDTF">2006-08-16T00:00:00Z</dcterms:created>
  <dcterms:modified xsi:type="dcterms:W3CDTF">2026-04-01T17:03:41Z</dcterms:modified>
</cp:coreProperties>
</file>